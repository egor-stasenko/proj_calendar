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Libre Franklin"/>
      <p:regular r:id="rId15"/>
      <p:bold r:id="rId16"/>
      <p:italic r:id="rId17"/>
      <p:boldItalic r:id="rId18"/>
    </p:embeddedFont>
    <p:embeddedFont>
      <p:font typeface="Libre Baskerville"/>
      <p:regular r:id="rId19"/>
      <p:bold r:id="rId20"/>
      <p: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Baskervill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ibreBaskervill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ibreFranklin-regular.fntdata"/><Relationship Id="rId14" Type="http://schemas.openxmlformats.org/officeDocument/2006/relationships/slide" Target="slides/slide9.xml"/><Relationship Id="rId17" Type="http://schemas.openxmlformats.org/officeDocument/2006/relationships/font" Target="fonts/LibreFranklin-italic.fntdata"/><Relationship Id="rId16" Type="http://schemas.openxmlformats.org/officeDocument/2006/relationships/font" Target="fonts/LibreFranklin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ibreBaskerville-regular.fntdata"/><Relationship Id="rId6" Type="http://schemas.openxmlformats.org/officeDocument/2006/relationships/slide" Target="slides/slide1.xml"/><Relationship Id="rId18" Type="http://schemas.openxmlformats.org/officeDocument/2006/relationships/font" Target="fonts/LibreFranklin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72b4301fa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72b4301f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33f42a55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733f42a552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7084" y="69756"/>
            <a:ext cx="12017828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727200" y="3200400"/>
            <a:ext cx="8534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/>
          <p:nvPr>
            <p:ph idx="12" type="sldNum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" name="Google Shape;23;p2"/>
          <p:cNvSpPr txBox="1"/>
          <p:nvPr>
            <p:ph type="ctrTitle"/>
          </p:nvPr>
        </p:nvSpPr>
        <p:spPr>
          <a:xfrm>
            <a:off x="609600" y="1505931"/>
            <a:ext cx="109728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>
            <p:ph idx="12" type="sldNum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showMasterSp="0" type="secHead">
  <p:cSld name="SECTION_HEADER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7084" y="69756"/>
            <a:ext cx="12017828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963084" y="9525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963084" y="2547938"/>
            <a:ext cx="103632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/>
        </p:nvSpPr>
        <p:spPr>
          <a:xfrm flipH="1" rot="10800000">
            <a:off x="92550" y="2376830"/>
            <a:ext cx="120180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0" name="Google Shape;40;p4"/>
          <p:cNvSpPr/>
          <p:nvPr>
            <p:ph idx="12" type="sldNum"/>
          </p:nvPr>
        </p:nvSpPr>
        <p:spPr>
          <a:xfrm>
            <a:off x="195072" y="6208776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/>
          <p:nvPr>
            <p:ph idx="12" type="sldNum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1219200" y="1447800"/>
            <a:ext cx="49987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6578600" y="1447800"/>
            <a:ext cx="49987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1219200" y="27305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1219200" y="14478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6604000" y="14478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/>
          <p:nvPr>
            <p:ph idx="12" type="sldNum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5" name="Google Shape;55;p6"/>
          <p:cNvSpPr txBox="1"/>
          <p:nvPr>
            <p:ph idx="3" type="body"/>
          </p:nvPr>
        </p:nvSpPr>
        <p:spPr>
          <a:xfrm>
            <a:off x="1219200" y="2247900"/>
            <a:ext cx="4978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4" type="body"/>
          </p:nvPr>
        </p:nvSpPr>
        <p:spPr>
          <a:xfrm>
            <a:off x="6604000" y="2247900"/>
            <a:ext cx="4978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/>
          <p:nvPr>
            <p:ph idx="12" type="sldNum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/>
          <p:nvPr>
            <p:ph idx="12" type="sldNum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85344" y="69755"/>
            <a:ext cx="12017828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1219200" y="27305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1219200" y="1600200"/>
            <a:ext cx="2540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/>
          <p:nvPr>
            <p:ph idx="12" type="sldNum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3962400" y="1600200"/>
            <a:ext cx="7620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1219200" y="4900550"/>
            <a:ext cx="97536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1219200" y="5445825"/>
            <a:ext cx="9753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69" lvl="1" marL="914400" algn="l"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19" lvl="3" marL="1828800" algn="l"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1" type="ftr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/>
          <p:nvPr>
            <p:ph idx="12" type="sldNum"/>
          </p:nvPr>
        </p:nvSpPr>
        <p:spPr>
          <a:xfrm>
            <a:off x="195072" y="6208776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1" name="Google Shape;81;p10"/>
          <p:cNvSpPr/>
          <p:nvPr/>
        </p:nvSpPr>
        <p:spPr>
          <a:xfrm flipH="1" rot="10800000">
            <a:off x="91076" y="4683555"/>
            <a:ext cx="120091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4" name="Google Shape;84;p10"/>
          <p:cNvSpPr/>
          <p:nvPr>
            <p:ph idx="2" type="pic"/>
          </p:nvPr>
        </p:nvSpPr>
        <p:spPr>
          <a:xfrm>
            <a:off x="91078" y="66676"/>
            <a:ext cx="12002498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" type="body"/>
          </p:nvPr>
        </p:nvSpPr>
        <p:spPr>
          <a:xfrm rot="5400000">
            <a:off x="4114800" y="-1447800"/>
            <a:ext cx="4572000" cy="103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/>
          <p:nvPr>
            <p:ph idx="12" type="sldNum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type="title"/>
          </p:nvPr>
        </p:nvSpPr>
        <p:spPr>
          <a:xfrm rot="5400000">
            <a:off x="7254557" y="1859285"/>
            <a:ext cx="5851525" cy="26822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 rot="5400000">
            <a:off x="2001837" y="-507996"/>
            <a:ext cx="5851525" cy="74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/>
          <p:nvPr>
            <p:ph idx="12" type="sldNum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85344" y="69755"/>
            <a:ext cx="12017828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935" lvl="0" marL="457200" marR="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" name="Google Shape;12;p1"/>
          <p:cNvSpPr/>
          <p:nvPr>
            <p:ph idx="12" type="sldNum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5" Type="http://schemas.openxmlformats.org/officeDocument/2006/relationships/image" Target="../media/image4.jpg"/><Relationship Id="rId6" Type="http://schemas.openxmlformats.org/officeDocument/2006/relationships/image" Target="../media/image7.jpg"/><Relationship Id="rId7" Type="http://schemas.openxmlformats.org/officeDocument/2006/relationships/image" Target="../media/image6.jpg"/><Relationship Id="rId8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8484465" y="3188303"/>
            <a:ext cx="3121269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ru-RU" sz="1800"/>
              <a:t>Работу выполнил ученик 8  «А» класса ГБОУ Измайловской школы №1508 Стасенко Егор</a:t>
            </a:r>
            <a:endParaRPr sz="1800"/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1800"/>
              <a:t>Руководитель : учитель информатики Забавникова Е. А.</a:t>
            </a:r>
            <a:endParaRPr sz="1800"/>
          </a:p>
        </p:txBody>
      </p:sp>
      <p:sp>
        <p:nvSpPr>
          <p:cNvPr id="102" name="Google Shape;102;p13"/>
          <p:cNvSpPr txBox="1"/>
          <p:nvPr>
            <p:ph type="ctrTitle"/>
          </p:nvPr>
        </p:nvSpPr>
        <p:spPr>
          <a:xfrm>
            <a:off x="1110526" y="1707267"/>
            <a:ext cx="9144000" cy="99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60"/>
              <a:buFont typeface="Libre Franklin"/>
              <a:buNone/>
            </a:pPr>
            <a:r>
              <a:rPr b="1" lang="ru-RU" sz="3600"/>
              <a:t>Мобильное приложение </a:t>
            </a:r>
            <a:endParaRPr b="1"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60"/>
              <a:buFont typeface="Libre Franklin"/>
              <a:buNone/>
            </a:pPr>
            <a:r>
              <a:rPr b="1" lang="ru-RU" sz="3600"/>
              <a:t>“Праздники и их описание”</a:t>
            </a:r>
            <a:endParaRPr sz="486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ru-RU" sz="4400"/>
              <a:t>Актуальность</a:t>
            </a:r>
            <a:endParaRPr sz="4400"/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С усовершенствованием технологий и развитием мобильного рынка, мобильные приложения все более востребованы. Во время создания такого приложения можно сильно развиться в сфере программирования, тем более если до этого не изучал нужные языки такие как Kotlin или Java. Если всё сложится удачно и приложение получится хорошим, то им будет пользоваться широкий круг людей.</a:t>
            </a:r>
            <a:endParaRPr i="1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ru-RU" sz="4400"/>
              <a:t>Методологические характеристики проекта</a:t>
            </a:r>
            <a:endParaRPr sz="4400"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380"/>
              <a:buChar char="⚫"/>
            </a:pPr>
            <a:r>
              <a:rPr b="1" lang="ru-RU" sz="2800"/>
              <a:t>Тема</a:t>
            </a:r>
            <a:r>
              <a:rPr lang="ru-RU" sz="2800"/>
              <a:t>: </a:t>
            </a:r>
            <a:r>
              <a:rPr lang="ru-RU"/>
              <a:t>мобильное приложение: «Праздники и их описание».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380"/>
              <a:buChar char="⚫"/>
            </a:pPr>
            <a:r>
              <a:rPr b="1" lang="ru-RU" sz="2800"/>
              <a:t>Проблема</a:t>
            </a:r>
            <a:r>
              <a:rPr lang="ru-RU" sz="2800"/>
              <a:t>: </a:t>
            </a:r>
            <a:r>
              <a:rPr lang="ru-RU"/>
              <a:t>не умение разрабатывать мобильные приложения и желание развиваться в области программирования.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380"/>
              <a:buChar char="⚫"/>
            </a:pPr>
            <a:r>
              <a:rPr b="1" lang="ru-RU" sz="2800"/>
              <a:t>Цель</a:t>
            </a:r>
            <a:r>
              <a:rPr lang="ru-RU" sz="2800"/>
              <a:t>: </a:t>
            </a:r>
            <a:r>
              <a:rPr lang="ru-RU"/>
              <a:t>разработать мобильное приложение, на  языке программирования Java.</a:t>
            </a:r>
            <a:endParaRPr b="1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idx="1" type="body"/>
          </p:nvPr>
        </p:nvSpPr>
        <p:spPr>
          <a:xfrm>
            <a:off x="1219200" y="283000"/>
            <a:ext cx="10363200" cy="573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345" lvl="0" marL="274320" rtl="0" algn="l">
              <a:spcBef>
                <a:spcPts val="580"/>
              </a:spcBef>
              <a:spcAft>
                <a:spcPts val="0"/>
              </a:spcAft>
              <a:buSzPts val="1530"/>
              <a:buChar char="⚫"/>
            </a:pPr>
            <a:r>
              <a:rPr b="1" lang="ru-RU"/>
              <a:t>Задачи: </a:t>
            </a:r>
            <a:endParaRPr b="1"/>
          </a:p>
          <a:p>
            <a:pPr indent="-271780" lvl="1" marL="54864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10"/>
              <a:buChar char="⚫"/>
            </a:pPr>
            <a:r>
              <a:rPr lang="ru-RU" sz="2600"/>
              <a:t>сформулировать основные понятия: мобильное приложение, язык программирования</a:t>
            </a:r>
            <a:endParaRPr sz="2600"/>
          </a:p>
          <a:p>
            <a:pPr indent="-271780" lvl="1" marL="54864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Char char="⚫"/>
            </a:pPr>
            <a:r>
              <a:rPr lang="ru-RU" sz="2600"/>
              <a:t>составить характеристику параметров мобильных приложений</a:t>
            </a:r>
            <a:endParaRPr sz="2600"/>
          </a:p>
          <a:p>
            <a:pPr indent="-271780" lvl="1" marL="54864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Char char="⚫"/>
            </a:pPr>
            <a:r>
              <a:rPr lang="ru-RU" sz="2600"/>
              <a:t>проанализировать виды мобильных приложений</a:t>
            </a:r>
            <a:endParaRPr sz="2600"/>
          </a:p>
          <a:p>
            <a:pPr indent="-271780" lvl="1" marL="54864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Char char="⚫"/>
            </a:pPr>
            <a:r>
              <a:rPr lang="ru-RU" sz="2600"/>
              <a:t>выбрать вид мобильного приложения</a:t>
            </a:r>
            <a:endParaRPr sz="2600"/>
          </a:p>
          <a:p>
            <a:pPr indent="-271780" lvl="1" marL="54864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Char char="⚫"/>
            </a:pPr>
            <a:r>
              <a:rPr lang="ru-RU" sz="2600"/>
              <a:t>подобрать содержание разрабатываемого приложения</a:t>
            </a:r>
            <a:endParaRPr sz="2600"/>
          </a:p>
          <a:p>
            <a:pPr indent="-271780" lvl="1" marL="54864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Char char="⚫"/>
            </a:pPr>
            <a:r>
              <a:rPr lang="ru-RU" sz="2600"/>
              <a:t>описать авторское мобильное приложение</a:t>
            </a:r>
            <a:endParaRPr sz="2600"/>
          </a:p>
          <a:p>
            <a:pPr indent="-271780" lvl="1" marL="548640" rtl="0" algn="l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Char char="⚫"/>
            </a:pPr>
            <a:r>
              <a:rPr lang="ru-RU" sz="2600"/>
              <a:t>проанализировать полученные данные и сформулировать выводы.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ru-RU" sz="4400"/>
              <a:t>Основные понятия по теме</a:t>
            </a:r>
            <a:endParaRPr sz="4400"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Layout–расположение элементов и блоков относительно друг друга в рамках страницы или интерфейса.</a:t>
            </a:r>
            <a:endParaRPr i="1"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i="1"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i="1"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i="1"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i="1"/>
          </a:p>
          <a:p>
            <a:pPr indent="-133985" lvl="0" marL="274320" rtl="0" algn="l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b="1" lang="ru-RU" sz="3600"/>
              <a:t>Описание авторского мобильного приложения</a:t>
            </a:r>
            <a:endParaRPr sz="3600"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274320" rtl="0" algn="l"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Название - </a:t>
            </a:r>
            <a:r>
              <a:rPr lang="ru-RU"/>
              <a:t>Праздники и их описание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Вид - нативное приложение.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Язык – Java.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Выглядит как календарь.</a:t>
            </a:r>
            <a:endParaRPr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При запуске проверяет существует ли на устройстве база данных с праздниками, если нет то создаёт её. Получает данные о текущем месяце и годе, выводит на экран layout с количеством дней соответствующим количеству дней в текущем месяце. При нажатии на день выводит праздник, который есть в этот день, а также его описание, которое берёт из базы данных.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ru-RU" sz="4400"/>
              <a:t>Результат</a:t>
            </a:r>
            <a:endParaRPr sz="4400"/>
          </a:p>
        </p:txBody>
      </p:sp>
      <p:sp>
        <p:nvSpPr>
          <p:cNvPr id="137" name="Google Shape;137;p19"/>
          <p:cNvSpPr/>
          <p:nvPr/>
        </p:nvSpPr>
        <p:spPr>
          <a:xfrm>
            <a:off x="7259322" y="-3725862"/>
            <a:ext cx="3121461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9788" y="1417660"/>
            <a:ext cx="1370199" cy="296881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39" name="Google Shape;139;p19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15564" y="1417659"/>
            <a:ext cx="1370199" cy="2968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9471" y="1418027"/>
            <a:ext cx="1369831" cy="2967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64011" y="1417660"/>
            <a:ext cx="1370199" cy="2968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6237" y="1418511"/>
            <a:ext cx="1369831" cy="2967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7849" y="1418093"/>
            <a:ext cx="1369831" cy="2967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21072" y="1418083"/>
            <a:ext cx="1369832" cy="2967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2689" y="1417650"/>
            <a:ext cx="1369543" cy="2968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ru-RU" sz="4400"/>
              <a:t>Выводы</a:t>
            </a:r>
            <a:endParaRPr sz="4400"/>
          </a:p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380"/>
              <a:buNone/>
            </a:pPr>
            <a:r>
              <a:rPr lang="ru-RU" sz="2800"/>
              <a:t>В процессе выполнения проекта я изучил язык программирования Java и создал мобильное приложение которое может быть использовано в качестве примера приложения на уроках программирования, а также принести прибыль.</a:t>
            </a:r>
            <a:endParaRPr sz="280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ru-RU" sz="4400"/>
              <a:t>Заключение</a:t>
            </a:r>
            <a:endParaRPr sz="4400"/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773525" y="1447800"/>
            <a:ext cx="10809000" cy="48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/>
              <a:t>В процессе выполнения проекта были решены задачи: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⚫"/>
            </a:pPr>
            <a:r>
              <a:rPr lang="ru-RU" sz="2800"/>
              <a:t>сформулировать основные понятия: мобильное приложение, язык программирования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⚫"/>
            </a:pPr>
            <a:r>
              <a:rPr lang="ru-RU" sz="2800"/>
              <a:t>составить характеристику параметров мобильных приложений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⚫"/>
            </a:pPr>
            <a:r>
              <a:rPr lang="ru-RU" sz="2800"/>
              <a:t>проанализировать виды мобильных приложений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⚫"/>
            </a:pPr>
            <a:r>
              <a:rPr lang="ru-RU" sz="2800"/>
              <a:t>выбрать вид мобильного приложения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⚫"/>
            </a:pPr>
            <a:r>
              <a:rPr lang="ru-RU" sz="2800"/>
              <a:t>подобрать содержание разрабатываемого приложения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⚫"/>
            </a:pPr>
            <a:r>
              <a:rPr lang="ru-RU" sz="2800"/>
              <a:t>описать авторское мобильное приложение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⚫"/>
            </a:pPr>
            <a:r>
              <a:rPr lang="ru-RU" sz="2800"/>
              <a:t>проанализировать полученные данные и сформулировать выводы.</a:t>
            </a:r>
            <a:endParaRPr sz="2800"/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/>
              <a:t>Также в процессе возникла проблема со средой программирования Android studio, которая также была решена.</a:t>
            </a:r>
            <a:endParaRPr sz="2800"/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/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Справедливость">
  <a:themeElements>
    <a:clrScheme name="Справедливость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